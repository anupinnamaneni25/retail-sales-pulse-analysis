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977639" cy="6858000"/>
          </a:xfrm>
          <a:prstGeom prst="rect">
            <a:avLst/>
          </a:prstGeom>
          <a:solidFill>
            <a:srgbClr val="0F2B4A"/>
          </a:solidFill>
          <a:ln>
            <a:solidFill>
              <a:srgbClr val="0F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977639" y="0"/>
            <a:ext cx="91440" cy="6858000"/>
          </a:xfrm>
          <a:prstGeom prst="rect">
            <a:avLst/>
          </a:prstGeom>
          <a:solidFill>
            <a:srgbClr val="1F5C91"/>
          </a:solidFill>
          <a:ln>
            <a:solidFill>
              <a:srgbClr val="1F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05156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0EEF9"/>
                </a:solidFill>
                <a:latin typeface="Aptos"/>
              </a:rPr>
              <a:t>RETAIL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63040"/>
            <a:ext cx="2926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SALES
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063240"/>
            <a:ext cx="2743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E0EEF9"/>
                </a:solidFill>
                <a:latin typeface="Aptos"/>
              </a:rPr>
              <a:t>Business Analysis &amp;
Weekly Data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331720"/>
            <a:ext cx="649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E0EEF9"/>
                </a:solidFill>
                <a:latin typeface="Aptos"/>
              </a:rPr>
              <a:t>From Analysis to Automated Weekly Pipeline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8F1268-B5B6-BF33-C746-293FCA926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525376" cy="73104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tGPT Image Sep 6, 2026 at 07_43_41 PM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B4A"/>
          </a:solidFill>
          <a:ln>
            <a:solidFill>
              <a:srgbClr val="0F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5C91"/>
                </a:solidFill>
                <a:latin typeface="Aptos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2B4A"/>
                </a:solidFill>
                <a:latin typeface="Aptos"/>
              </a:rPr>
              <a:t>5.1 — Load &amp; Inspect 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987552"/>
            <a:ext cx="10881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977"/>
                </a:solidFill>
                <a:latin typeface="Aptos"/>
              </a:rPr>
              <a:t>Establish the shape, quality and distribution of the historical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53312"/>
            <a:ext cx="11045952" cy="18288"/>
          </a:xfrm>
          <a:prstGeom prst="rect">
            <a:avLst/>
          </a:prstGeom>
          <a:solidFill>
            <a:srgbClr val="EBEFF3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792" y="1664208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1664208"/>
            <a:ext cx="64008" cy="1143000"/>
          </a:xfrm>
          <a:prstGeom prst="rect">
            <a:avLst/>
          </a:prstGeom>
          <a:solidFill>
            <a:srgbClr val="1F5C91"/>
          </a:solidFill>
          <a:ln>
            <a:solidFill>
              <a:srgbClr val="1F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828800"/>
            <a:ext cx="2103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F2B4A"/>
                </a:solidFill>
                <a:latin typeface="Aptos"/>
              </a:rPr>
              <a:t>107,836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286000"/>
            <a:ext cx="210312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977"/>
                </a:solidFill>
                <a:latin typeface="Aptos"/>
              </a:rPr>
              <a:t>Transactions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18688" y="1664208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18688" y="1664208"/>
            <a:ext cx="64008" cy="1143000"/>
          </a:xfrm>
          <a:prstGeom prst="rect">
            <a:avLst/>
          </a:prstGeom>
          <a:solidFill>
            <a:srgbClr val="1F5C91"/>
          </a:solidFill>
          <a:ln>
            <a:solidFill>
              <a:srgbClr val="1F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01568" y="1828800"/>
            <a:ext cx="2103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F2B4A"/>
                </a:solidFill>
                <a:latin typeface="Aptos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2286000"/>
            <a:ext cx="210312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977"/>
                </a:solidFill>
                <a:latin typeface="Aptos"/>
              </a:rPr>
              <a:t>Columns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15584" y="1664208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15584" y="1664208"/>
            <a:ext cx="64008" cy="1143000"/>
          </a:xfrm>
          <a:prstGeom prst="rect">
            <a:avLst/>
          </a:prstGeom>
          <a:solidFill>
            <a:srgbClr val="228255"/>
          </a:solidFill>
          <a:ln>
            <a:solidFill>
              <a:srgbClr val="22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98464" y="1828800"/>
            <a:ext cx="2103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F2B4A"/>
                </a:solidFill>
                <a:latin typeface="Aptos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98464" y="2286000"/>
            <a:ext cx="210312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977"/>
                </a:solidFill>
                <a:latin typeface="Aptos"/>
              </a:rPr>
              <a:t>Null values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1664208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412480" y="1664208"/>
            <a:ext cx="64008" cy="1143000"/>
          </a:xfrm>
          <a:prstGeom prst="rect">
            <a:avLst/>
          </a:prstGeom>
          <a:solidFill>
            <a:srgbClr val="1F5C91"/>
          </a:solidFill>
          <a:ln>
            <a:solidFill>
              <a:srgbClr val="1F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95359" y="1828800"/>
            <a:ext cx="2103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F2B4A"/>
                </a:solidFill>
                <a:latin typeface="Aptos"/>
              </a:rPr>
              <a:t>₹4,263.92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59" y="2286000"/>
            <a:ext cx="210312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977"/>
                </a:solidFill>
                <a:latin typeface="Aptos"/>
              </a:rPr>
              <a:t>Average revenue / transaction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12724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B4A"/>
                </a:solidFill>
                <a:latin typeface="Aptos"/>
              </a:rPr>
              <a:t>What I did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456432"/>
            <a:ext cx="5303520" cy="150876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400">
                <a:solidFill>
                  <a:srgbClr val="23303D"/>
                </a:solidFill>
                <a:latin typeface="Aptos"/>
              </a:defRPr>
            </a:pPr>
            <a:r>
              <a:t>• Loaded the CSV and checked shape, data types and missing values.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00">
                <a:solidFill>
                  <a:srgbClr val="23303D"/>
                </a:solidFill>
                <a:latin typeface="Aptos"/>
              </a:defRPr>
            </a:pPr>
            <a:r>
              <a:t>• Reviewed descriptive statistics for units sold, price, revenue and discount.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400">
                <a:solidFill>
                  <a:srgbClr val="23303D"/>
                </a:solidFill>
                <a:latin typeface="Aptos"/>
              </a:defRPr>
            </a:pPr>
            <a:r>
              <a:t>• Compared mean vs median revenue to understand the distribution.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12724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B4A"/>
                </a:solidFill>
                <a:latin typeface="Aptos"/>
              </a:rPr>
              <a:t>What the numbers mean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3456432"/>
            <a:ext cx="5349240" cy="960120"/>
          </a:xfrm>
          <a:prstGeom prst="roundRect">
            <a:avLst/>
          </a:prstGeom>
          <a:solidFill>
            <a:srgbClr val="F2F7FB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26480" y="3456432"/>
            <a:ext cx="64008" cy="960120"/>
          </a:xfrm>
          <a:prstGeom prst="rect">
            <a:avLst/>
          </a:prstGeom>
          <a:solidFill>
            <a:srgbClr val="1F5C91"/>
          </a:solidFill>
          <a:ln>
            <a:solidFill>
              <a:srgbClr val="1F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27648" y="3602736"/>
            <a:ext cx="5029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B4A"/>
                </a:solidFill>
                <a:latin typeface="Aptos"/>
              </a:rPr>
              <a:t>Revenue is right-skewed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3931920"/>
            <a:ext cx="5029200" cy="3749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3303D"/>
                </a:solidFill>
                <a:latin typeface="Aptos"/>
              </a:rPr>
              <a:t>Mean revenue is ₹4,263.92, while median revenue is ₹1,034.62 — occasional high-value transactions materially influence the average.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4590288"/>
            <a:ext cx="5349240" cy="960120"/>
          </a:xfrm>
          <a:prstGeom prst="roundRect">
            <a:avLst/>
          </a:prstGeom>
          <a:solidFill>
            <a:srgbClr val="F2F7FB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26480" y="4590288"/>
            <a:ext cx="64008" cy="960120"/>
          </a:xfrm>
          <a:prstGeom prst="rect">
            <a:avLst/>
          </a:prstGeom>
          <a:solidFill>
            <a:srgbClr val="D28B26"/>
          </a:solidFill>
          <a:ln>
            <a:solidFill>
              <a:srgbClr val="D28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27648" y="4736592"/>
            <a:ext cx="5029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B4A"/>
                </a:solidFill>
                <a:latin typeface="Aptos"/>
              </a:rPr>
              <a:t>High-value transactions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5065775"/>
            <a:ext cx="5029200" cy="3749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3303D"/>
                </a:solidFill>
                <a:latin typeface="Aptos"/>
              </a:rPr>
              <a:t>Maximum transaction revenue is ₹355,090.88. These should be understood by store, category and product before drawing conclusions.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9893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228255"/>
                </a:solidFill>
                <a:latin typeface="Aptos"/>
              </a:rPr>
              <a:t>Key takeaway: the historical dataset is complete and suitable for downstream analysis.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6565392"/>
            <a:ext cx="11045952" cy="10972"/>
          </a:xfrm>
          <a:prstGeom prst="rect">
            <a:avLst/>
          </a:prstGeom>
          <a:solidFill>
            <a:srgbClr val="EBEFF3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6928" y="6601968"/>
            <a:ext cx="7772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977"/>
                </a:solidFill>
                <a:latin typeface="Aptos"/>
              </a:rPr>
              <a:t>Retail Sales Pulse  |  Phase 1 — Mini Use Case 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01400" y="658368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B6977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B4A"/>
          </a:solidFill>
          <a:ln>
            <a:solidFill>
              <a:srgbClr val="0F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5C91"/>
                </a:solidFill>
                <a:latin typeface="Aptos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2B4A"/>
                </a:solidFill>
                <a:latin typeface="Aptos"/>
              </a:rPr>
              <a:t>5.2 — Revenue by 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987552"/>
            <a:ext cx="10881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977"/>
                </a:solidFill>
                <a:latin typeface="Aptos"/>
              </a:rPr>
              <a:t>Rank stores by six-month revenue to reveal the performance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53312"/>
            <a:ext cx="11045952" cy="18288"/>
          </a:xfrm>
          <a:prstGeom prst="rect">
            <a:avLst/>
          </a:prstGeom>
          <a:solidFill>
            <a:srgbClr val="EBEFF3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etail_notebook_graph_15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27632"/>
            <a:ext cx="7360920" cy="444908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183879" y="1691640"/>
            <a:ext cx="3337560" cy="1188720"/>
          </a:xfrm>
          <a:prstGeom prst="roundRect">
            <a:avLst/>
          </a:prstGeom>
          <a:solidFill>
            <a:srgbClr val="F2F7FB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183879" y="1691640"/>
            <a:ext cx="64008" cy="1188720"/>
          </a:xfrm>
          <a:prstGeom prst="rect">
            <a:avLst/>
          </a:prstGeom>
          <a:solidFill>
            <a:srgbClr val="228255"/>
          </a:solidFill>
          <a:ln>
            <a:solidFill>
              <a:srgbClr val="22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85048" y="1837944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B4A"/>
                </a:solidFill>
                <a:latin typeface="Aptos"/>
              </a:rPr>
              <a:t>Top performer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5048" y="2167128"/>
            <a:ext cx="301752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3303D"/>
                </a:solidFill>
                <a:latin typeface="Aptos"/>
              </a:rPr>
              <a:t>S01 — Vijayawada
₹59.1M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3063240"/>
            <a:ext cx="3337560" cy="1188720"/>
          </a:xfrm>
          <a:prstGeom prst="roundRect">
            <a:avLst/>
          </a:prstGeom>
          <a:solidFill>
            <a:srgbClr val="F2F7FB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83879" y="3063240"/>
            <a:ext cx="64008" cy="1188720"/>
          </a:xfrm>
          <a:prstGeom prst="rect">
            <a:avLst/>
          </a:prstGeom>
          <a:solidFill>
            <a:srgbClr val="BE3939"/>
          </a:solidFill>
          <a:ln>
            <a:solidFill>
              <a:srgbClr val="BE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85048" y="3209544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B4A"/>
                </a:solidFill>
                <a:latin typeface="Aptos"/>
              </a:rPr>
              <a:t>Lowest performer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3538728"/>
            <a:ext cx="301752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3303D"/>
                </a:solidFill>
                <a:latin typeface="Aptos"/>
              </a:rPr>
              <a:t>S12 — Kakinada
₹22.0M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52628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B4A"/>
                </a:solidFill>
                <a:latin typeface="Aptos"/>
              </a:rPr>
              <a:t>Business interpretation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846320"/>
            <a:ext cx="3337560" cy="132588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150">
                <a:solidFill>
                  <a:srgbClr val="23303D"/>
                </a:solidFill>
                <a:latin typeface="Aptos"/>
              </a:defRPr>
            </a:pPr>
            <a:r>
              <a:t>• There is a significant gap between the strongest and weakest stores.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150">
                <a:solidFill>
                  <a:srgbClr val="23303D"/>
                </a:solidFill>
                <a:latin typeface="Aptos"/>
              </a:defRPr>
            </a:pPr>
            <a:r>
              <a:t>• Operations should investigate demand, product availability, pricing and local competition.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150">
                <a:solidFill>
                  <a:srgbClr val="23303D"/>
                </a:solidFill>
                <a:latin typeface="Aptos"/>
              </a:defRPr>
            </a:pPr>
            <a:r>
              <a:t>• The gap can guide where promotional or operational support is most needed.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565392"/>
            <a:ext cx="11045952" cy="10972"/>
          </a:xfrm>
          <a:prstGeom prst="rect">
            <a:avLst/>
          </a:prstGeom>
          <a:solidFill>
            <a:srgbClr val="EBEFF3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6601968"/>
            <a:ext cx="7772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977"/>
                </a:solidFill>
                <a:latin typeface="Aptos"/>
              </a:rPr>
              <a:t>Retail Sales Pulse  |  Phase 1 — Mini Use Case 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58368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B6977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B4A"/>
          </a:solidFill>
          <a:ln>
            <a:solidFill>
              <a:srgbClr val="0F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5C91"/>
                </a:solidFill>
                <a:latin typeface="Aptos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2B4A"/>
                </a:solidFill>
                <a:latin typeface="Aptos"/>
              </a:rPr>
              <a:t>5.3 — Category Performance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98755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977"/>
                </a:solidFill>
                <a:latin typeface="Aptos"/>
              </a:rPr>
              <a:t>Track all five categories from January to June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53312"/>
            <a:ext cx="11045952" cy="18288"/>
          </a:xfrm>
          <a:prstGeom prst="rect">
            <a:avLst/>
          </a:prstGeom>
          <a:solidFill>
            <a:srgbClr val="EBEFF3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27632"/>
            <a:ext cx="7543800" cy="374334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75320" y="1700784"/>
            <a:ext cx="3154680" cy="1170432"/>
          </a:xfrm>
          <a:prstGeom prst="roundRect">
            <a:avLst/>
          </a:prstGeom>
          <a:solidFill>
            <a:srgbClr val="F2F7FB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75320" y="1700784"/>
            <a:ext cx="64008" cy="1170432"/>
          </a:xfrm>
          <a:prstGeom prst="rect">
            <a:avLst/>
          </a:prstGeom>
          <a:solidFill>
            <a:srgbClr val="BE3939"/>
          </a:solidFill>
          <a:ln>
            <a:solidFill>
              <a:srgbClr val="BE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76488" y="1828800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B4A"/>
                </a:solidFill>
                <a:latin typeface="Aptos"/>
              </a:rPr>
              <a:t>Steepest decline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6488" y="2139696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3303D"/>
                </a:solidFill>
                <a:latin typeface="Aptos"/>
              </a:rPr>
              <a:t>Electronics fell 35.02% from January to June, making it the clearest category-level warning signal.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154680" cy="1170432"/>
          </a:xfrm>
          <a:prstGeom prst="roundRect">
            <a:avLst/>
          </a:prstGeom>
          <a:solidFill>
            <a:srgbClr val="F2F7FB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75320" y="3063240"/>
            <a:ext cx="64008" cy="1170432"/>
          </a:xfrm>
          <a:prstGeom prst="rect">
            <a:avLst/>
          </a:prstGeom>
          <a:solidFill>
            <a:srgbClr val="228255"/>
          </a:solidFill>
          <a:ln>
            <a:solidFill>
              <a:srgbClr val="22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76488" y="3191256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B4A"/>
                </a:solidFill>
                <a:latin typeface="Aptos"/>
              </a:rPr>
              <a:t>Most stable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3502152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3303D"/>
                </a:solidFill>
                <a:latin typeface="Aptos"/>
              </a:rPr>
              <a:t>Grocery shows the most consistent revenue pattern across the six-month period.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507992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B4A"/>
                </a:solidFill>
                <a:latin typeface="Aptos"/>
              </a:rPr>
              <a:t>Explanation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4828032"/>
            <a:ext cx="3154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30">
                <a:solidFill>
                  <a:srgbClr val="23303D"/>
                </a:solidFill>
                <a:latin typeface="Aptos"/>
              </a:defRPr>
            </a:pPr>
            <a:r>
              <a:t>• Electronics needs investigation because the decline is large and sustained.</a:t>
            </a:r>
          </a:p>
          <a:p>
            <a:pPr>
              <a:spcAft>
                <a:spcPts val="400"/>
              </a:spcAft>
              <a:defRPr sz="1130">
                <a:solidFill>
                  <a:srgbClr val="23303D"/>
                </a:solidFill>
                <a:latin typeface="Aptos"/>
              </a:defRPr>
            </a:pPr>
            <a:r>
              <a:t>• Grocery provides a relatively stable revenue base and a useful benchmark.</a:t>
            </a:r>
          </a:p>
          <a:p>
            <a:pPr>
              <a:spcAft>
                <a:spcPts val="400"/>
              </a:spcAft>
              <a:defRPr sz="1130">
                <a:solidFill>
                  <a:srgbClr val="23303D"/>
                </a:solidFill>
                <a:latin typeface="Aptos"/>
              </a:defRPr>
            </a:pPr>
            <a:r>
              <a:t>• The next step is to isolate the stores and products driving the Electronics decline.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565392"/>
            <a:ext cx="11045952" cy="10972"/>
          </a:xfrm>
          <a:prstGeom prst="rect">
            <a:avLst/>
          </a:prstGeom>
          <a:solidFill>
            <a:srgbClr val="EBEFF3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6601968"/>
            <a:ext cx="7772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977"/>
                </a:solidFill>
                <a:latin typeface="Aptos"/>
              </a:rPr>
              <a:t>Retail Sales Pulse  |  Phase 1 — Mini Use Case 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58368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B6977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B4A"/>
          </a:solidFill>
          <a:ln>
            <a:solidFill>
              <a:srgbClr val="0F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5C91"/>
                </a:solidFill>
                <a:latin typeface="Aptos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2B4A"/>
                </a:solidFill>
                <a:latin typeface="Aptos"/>
              </a:rPr>
              <a:t>5.4 — Day-of-Week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987552"/>
            <a:ext cx="10881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977"/>
                </a:solidFill>
                <a:latin typeface="Aptos"/>
              </a:rPr>
              <a:t>Use average daily revenue to identify the strongest and weakest trading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53312"/>
            <a:ext cx="11045952" cy="18288"/>
          </a:xfrm>
          <a:prstGeom prst="rect">
            <a:avLst/>
          </a:prstGeom>
          <a:solidFill>
            <a:srgbClr val="EBEFF3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etail_notebook_graph_35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45920"/>
            <a:ext cx="7818120" cy="466399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13648" y="1719072"/>
            <a:ext cx="2834640" cy="1143000"/>
          </a:xfrm>
          <a:prstGeom prst="roundRect">
            <a:avLst/>
          </a:prstGeom>
          <a:solidFill>
            <a:srgbClr val="F2F7FB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13648" y="1719072"/>
            <a:ext cx="64008" cy="1143000"/>
          </a:xfrm>
          <a:prstGeom prst="rect">
            <a:avLst/>
          </a:prstGeom>
          <a:solidFill>
            <a:srgbClr val="228255"/>
          </a:solidFill>
          <a:ln>
            <a:solidFill>
              <a:srgbClr val="22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14816" y="1865376"/>
            <a:ext cx="2514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B4A"/>
                </a:solidFill>
                <a:latin typeface="Aptos"/>
              </a:rPr>
              <a:t>Best 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14816" y="2194560"/>
            <a:ext cx="2514600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3303D"/>
                </a:solidFill>
                <a:latin typeface="Aptos"/>
              </a:rPr>
              <a:t>Saturday
₹35.24 lakh average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13648" y="3063240"/>
            <a:ext cx="2834640" cy="1143000"/>
          </a:xfrm>
          <a:prstGeom prst="roundRect">
            <a:avLst/>
          </a:prstGeom>
          <a:solidFill>
            <a:srgbClr val="F2F7FB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13648" y="3063240"/>
            <a:ext cx="64008" cy="1143000"/>
          </a:xfrm>
          <a:prstGeom prst="rect">
            <a:avLst/>
          </a:prstGeom>
          <a:solidFill>
            <a:srgbClr val="BE3939"/>
          </a:solidFill>
          <a:ln>
            <a:solidFill>
              <a:srgbClr val="BE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14816" y="3209544"/>
            <a:ext cx="2514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B4A"/>
                </a:solidFill>
                <a:latin typeface="Aptos"/>
              </a:rPr>
              <a:t>Worst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14816" y="3538728"/>
            <a:ext cx="2514600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3303D"/>
                </a:solidFill>
                <a:latin typeface="Aptos"/>
              </a:rPr>
              <a:t>Monday
₹20.12 lakh average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13648" y="4462272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B4A"/>
                </a:solidFill>
                <a:latin typeface="Aptos"/>
              </a:rPr>
              <a:t>Promotion implication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13648" y="4800600"/>
            <a:ext cx="2834640" cy="100584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50">
                <a:solidFill>
                  <a:srgbClr val="23303D"/>
                </a:solidFill>
                <a:latin typeface="Aptos"/>
              </a:defRPr>
            </a:pPr>
            <a:r>
              <a:t>• Test a flash promotion on Monday to lift the weakest trading day.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150">
                <a:solidFill>
                  <a:srgbClr val="23303D"/>
                </a:solidFill>
                <a:latin typeface="Aptos"/>
              </a:defRPr>
            </a:pPr>
            <a:r>
              <a:t>• Use Saturday as a benchmark because demand is already strong.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565392"/>
            <a:ext cx="11045952" cy="10972"/>
          </a:xfrm>
          <a:prstGeom prst="rect">
            <a:avLst/>
          </a:prstGeom>
          <a:solidFill>
            <a:srgbClr val="EBEFF3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6601968"/>
            <a:ext cx="7772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977"/>
                </a:solidFill>
                <a:latin typeface="Aptos"/>
              </a:rPr>
              <a:t>Retail Sales Pulse  |  Phase 1 — Mini Use Case 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58368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B6977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B4A"/>
          </a:solidFill>
          <a:ln>
            <a:solidFill>
              <a:srgbClr val="0F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5C91"/>
                </a:solidFill>
                <a:latin typeface="Aptos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2B4A"/>
                </a:solidFill>
                <a:latin typeface="Aptos"/>
              </a:rPr>
              <a:t>5.4 — Monthly Revenue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987552"/>
            <a:ext cx="10881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977"/>
                </a:solidFill>
                <a:latin typeface="Aptos"/>
              </a:rPr>
              <a:t>Compare total revenue across the six-month period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53312"/>
            <a:ext cx="11045952" cy="18288"/>
          </a:xfrm>
          <a:prstGeom prst="rect">
            <a:avLst/>
          </a:prstGeom>
          <a:solidFill>
            <a:srgbClr val="EBEFF3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etail_notebook_graph_39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45920"/>
            <a:ext cx="7818120" cy="466399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13648" y="1719072"/>
            <a:ext cx="2834640" cy="1143000"/>
          </a:xfrm>
          <a:prstGeom prst="roundRect">
            <a:avLst/>
          </a:prstGeom>
          <a:solidFill>
            <a:srgbClr val="F2F7FB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13648" y="1719072"/>
            <a:ext cx="64008" cy="1143000"/>
          </a:xfrm>
          <a:prstGeom prst="rect">
            <a:avLst/>
          </a:prstGeom>
          <a:solidFill>
            <a:srgbClr val="228255"/>
          </a:solidFill>
          <a:ln>
            <a:solidFill>
              <a:srgbClr val="22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14816" y="1865376"/>
            <a:ext cx="2514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B4A"/>
                </a:solidFill>
                <a:latin typeface="Aptos"/>
              </a:rPr>
              <a:t>Strongest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14816" y="2194560"/>
            <a:ext cx="2514600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3303D"/>
                </a:solidFill>
                <a:latin typeface="Aptos"/>
              </a:rPr>
              <a:t>January
₹84.77M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13648" y="3063240"/>
            <a:ext cx="2834640" cy="1143000"/>
          </a:xfrm>
          <a:prstGeom prst="roundRect">
            <a:avLst/>
          </a:prstGeom>
          <a:solidFill>
            <a:srgbClr val="F2F7FB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13648" y="3063240"/>
            <a:ext cx="64008" cy="1143000"/>
          </a:xfrm>
          <a:prstGeom prst="rect">
            <a:avLst/>
          </a:prstGeom>
          <a:solidFill>
            <a:srgbClr val="BE3939"/>
          </a:solidFill>
          <a:ln>
            <a:solidFill>
              <a:srgbClr val="BE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14816" y="3209544"/>
            <a:ext cx="2514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B4A"/>
                </a:solidFill>
                <a:latin typeface="Aptos"/>
              </a:rPr>
              <a:t>Weakest month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14816" y="3538728"/>
            <a:ext cx="2514600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3303D"/>
                </a:solidFill>
                <a:latin typeface="Aptos"/>
              </a:rPr>
              <a:t>June
₹69.28M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13648" y="4462272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B4A"/>
                </a:solidFill>
                <a:latin typeface="Aptos"/>
              </a:rPr>
              <a:t>Business interpretation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13648" y="4800600"/>
            <a:ext cx="2834640" cy="105156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50">
                <a:solidFill>
                  <a:srgbClr val="23303D"/>
                </a:solidFill>
                <a:latin typeface="Aptos"/>
              </a:defRPr>
            </a:pPr>
            <a:r>
              <a:t>• Revenue fluctuates materially across the period.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150">
                <a:solidFill>
                  <a:srgbClr val="23303D"/>
                </a:solidFill>
                <a:latin typeface="Aptos"/>
              </a:defRPr>
            </a:pPr>
            <a:r>
              <a:t>• The operations team should test whether seasonality or demand changes explain the decline toward June.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565392"/>
            <a:ext cx="11045952" cy="10972"/>
          </a:xfrm>
          <a:prstGeom prst="rect">
            <a:avLst/>
          </a:prstGeom>
          <a:solidFill>
            <a:srgbClr val="EBEFF3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6601968"/>
            <a:ext cx="7772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977"/>
                </a:solidFill>
                <a:latin typeface="Aptos"/>
              </a:rPr>
              <a:t>Retail Sales Pulse  |  Phase 1 — Mini Use Case 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58368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B6977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B4A"/>
          </a:solidFill>
          <a:ln>
            <a:solidFill>
              <a:srgbClr val="0F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5C91"/>
                </a:solidFill>
                <a:latin typeface="Aptos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2B4A"/>
                </a:solidFill>
                <a:latin typeface="Aptos"/>
              </a:rPr>
              <a:t>5.5 — Anomaly Identification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98755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977"/>
                </a:solidFill>
                <a:latin typeface="Aptos"/>
              </a:rPr>
              <a:t>Flag store-weeks below each store's lower threshold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53312"/>
            <a:ext cx="11045952" cy="18288"/>
          </a:xfrm>
          <a:prstGeom prst="rect">
            <a:avLst/>
          </a:prstGeom>
          <a:solidFill>
            <a:srgbClr val="EBEFF3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792" y="1664208"/>
            <a:ext cx="3794760" cy="1051560"/>
          </a:xfrm>
          <a:prstGeom prst="roundRect">
            <a:avLst/>
          </a:prstGeom>
          <a:solidFill>
            <a:srgbClr val="F2F7FB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847088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B4A"/>
                </a:solidFill>
                <a:latin typeface="Aptos"/>
              </a:rPr>
              <a:t>Lower threshold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16712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5C91"/>
                </a:solidFill>
                <a:latin typeface="Aptos"/>
              </a:rPr>
              <a:t>Mean − 2 × Standard Deviation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B4A"/>
                </a:solidFill>
                <a:latin typeface="Aptos"/>
              </a:rPr>
              <a:t>4 anomalies identified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26280" y="1664208"/>
          <a:ext cx="6903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Store</a:t>
                      </a:r>
                    </a:p>
                  </a:txBody>
                  <a:tcPr>
                    <a:solidFill>
                      <a:srgbClr val="0F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Week</a:t>
                      </a:r>
                    </a:p>
                  </a:txBody>
                  <a:tcPr>
                    <a:solidFill>
                      <a:srgbClr val="0F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0F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Lower threshold</a:t>
                      </a:r>
                    </a:p>
                  </a:txBody>
                  <a:tcPr>
                    <a:solidFill>
                      <a:srgbClr val="0F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23303D"/>
                          </a:solidFill>
                          <a:latin typeface="Aptos"/>
                        </a:defRPr>
                      </a:pPr>
                      <a:r>
                        <a:t>S02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23303D"/>
                          </a:solidFill>
                          <a:latin typeface="Aptos"/>
                        </a:defRPr>
                      </a:pPr>
                      <a:r>
                        <a:t>2026-05-18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23303D"/>
                          </a:solidFill>
                          <a:latin typeface="Aptos"/>
                        </a:defRPr>
                      </a:pPr>
                      <a:r>
                        <a:t>₹1,173,289.36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23303D"/>
                          </a:solidFill>
                          <a:latin typeface="Aptos"/>
                        </a:defRPr>
                      </a:pPr>
                      <a:r>
                        <a:t>₹1,174,000.00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23303D"/>
                          </a:solidFill>
                          <a:latin typeface="Aptos"/>
                        </a:defRPr>
                      </a:pPr>
                      <a:r>
                        <a:t>S04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23303D"/>
                          </a:solidFill>
                          <a:latin typeface="Aptos"/>
                        </a:defRPr>
                      </a:pPr>
                      <a:r>
                        <a:t>2026-06-08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23303D"/>
                          </a:solidFill>
                          <a:latin typeface="Aptos"/>
                        </a:defRPr>
                      </a:pPr>
                      <a:r>
                        <a:t>₹1,137,480.32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23303D"/>
                          </a:solidFill>
                          <a:latin typeface="Aptos"/>
                        </a:defRPr>
                      </a:pPr>
                      <a:r>
                        <a:t>₹1,141,545.00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23303D"/>
                          </a:solidFill>
                          <a:latin typeface="Aptos"/>
                        </a:defRPr>
                      </a:pPr>
                      <a:r>
                        <a:t>S05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23303D"/>
                          </a:solidFill>
                          <a:latin typeface="Aptos"/>
                        </a:defRPr>
                      </a:pPr>
                      <a:r>
                        <a:t>2026-02-09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23303D"/>
                          </a:solidFill>
                          <a:latin typeface="Aptos"/>
                        </a:defRPr>
                      </a:pPr>
                      <a:r>
                        <a:t>₹655,732.19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23303D"/>
                          </a:solidFill>
                          <a:latin typeface="Aptos"/>
                        </a:defRPr>
                      </a:pPr>
                      <a:r>
                        <a:t>₹723,179.80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23303D"/>
                          </a:solidFill>
                          <a:latin typeface="Aptos"/>
                        </a:defRPr>
                      </a:pPr>
                      <a:r>
                        <a:t>S10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23303D"/>
                          </a:solidFill>
                          <a:latin typeface="Aptos"/>
                        </a:defRPr>
                      </a:pPr>
                      <a:r>
                        <a:t>2026-04-06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23303D"/>
                          </a:solidFill>
                          <a:latin typeface="Aptos"/>
                        </a:defRPr>
                      </a:pPr>
                      <a:r>
                        <a:t>₹505,536.54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23303D"/>
                          </a:solidFill>
                          <a:latin typeface="Aptos"/>
                        </a:defRPr>
                      </a:pPr>
                      <a:r>
                        <a:t>₹539,510.50</a:t>
                      </a:r>
                    </a:p>
                  </a:txBody>
                  <a:tcPr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21792" y="3794760"/>
            <a:ext cx="3611880" cy="1417320"/>
          </a:xfrm>
          <a:prstGeom prst="roundRect">
            <a:avLst/>
          </a:prstGeom>
          <a:solidFill>
            <a:srgbClr val="F2F7FB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" y="3794760"/>
            <a:ext cx="64008" cy="1417320"/>
          </a:xfrm>
          <a:prstGeom prst="rect">
            <a:avLst/>
          </a:prstGeom>
          <a:solidFill>
            <a:srgbClr val="D28B26"/>
          </a:solidFill>
          <a:ln>
            <a:solidFill>
              <a:srgbClr val="D28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922776"/>
            <a:ext cx="3291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B4A"/>
                </a:solidFill>
                <a:latin typeface="Aptos"/>
              </a:rPr>
              <a:t>How to interpret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33672"/>
            <a:ext cx="3291840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3303D"/>
                </a:solidFill>
                <a:latin typeface="Aptos"/>
              </a:rPr>
              <a:t>A store-week is anomalous when revenue falls below its own lower threshold. These are warning signals, not confirmed causes.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4828032"/>
            <a:ext cx="6903720" cy="1005840"/>
          </a:xfrm>
          <a:prstGeom prst="roundRect">
            <a:avLst/>
          </a:prstGeom>
          <a:solidFill>
            <a:srgbClr val="F2F7FB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26280" y="4828032"/>
            <a:ext cx="64008" cy="1005840"/>
          </a:xfrm>
          <a:prstGeom prst="rect">
            <a:avLst/>
          </a:prstGeom>
          <a:solidFill>
            <a:srgbClr val="1F5C91"/>
          </a:solidFill>
          <a:ln>
            <a:solidFill>
              <a:srgbClr val="1F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27448" y="4956048"/>
            <a:ext cx="6583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B4A"/>
                </a:solidFill>
                <a:latin typeface="Aptos"/>
              </a:rPr>
              <a:t>Notebook interpretation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7448" y="5266944"/>
            <a:ext cx="6583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3303D"/>
                </a:solidFill>
                <a:latin typeface="Aptos"/>
              </a:rPr>
              <a:t>Possible explanations include supply disruption, local events, pricing issues or competitor activity; further investigation is required.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565392"/>
            <a:ext cx="11045952" cy="10972"/>
          </a:xfrm>
          <a:prstGeom prst="rect">
            <a:avLst/>
          </a:prstGeom>
          <a:solidFill>
            <a:srgbClr val="EBEFF3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6601968"/>
            <a:ext cx="7772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977"/>
                </a:solidFill>
                <a:latin typeface="Aptos"/>
              </a:rPr>
              <a:t>Retail Sales Pulse  |  Phase 1 — Mini Use Case 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58368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B6977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B4A"/>
          </a:solidFill>
          <a:ln>
            <a:solidFill>
              <a:srgbClr val="0F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5C91"/>
                </a:solidFill>
                <a:latin typeface="Aptos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2B4A"/>
                </a:solidFill>
                <a:latin typeface="Aptos"/>
              </a:rPr>
              <a:t>5.6 — Business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98755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977"/>
                </a:solidFill>
                <a:latin typeface="Aptos"/>
              </a:rPr>
              <a:t>Turn the EDA findings into one operational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53312"/>
            <a:ext cx="11045952" cy="18288"/>
          </a:xfrm>
          <a:prstGeom prst="rect">
            <a:avLst/>
          </a:prstGeom>
          <a:solidFill>
            <a:srgbClr val="EBEFF3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792" y="1691640"/>
            <a:ext cx="10927080" cy="1097280"/>
          </a:xfrm>
          <a:prstGeom prst="roundRect">
            <a:avLst/>
          </a:prstGeom>
          <a:solidFill>
            <a:srgbClr val="0F2B4A"/>
          </a:solidFill>
          <a:ln>
            <a:solidFill>
              <a:srgbClr val="0F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883664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0EEF9"/>
                </a:solidFill>
                <a:latin typeface="Aptos"/>
              </a:rPr>
              <a:t>MOST IMPORTANT FINDING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76272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S12 (Kakinada) had the lowest six-month revenue, while Electronics declined 35.02% from January to June.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B4A"/>
                </a:solidFill>
                <a:latin typeface="Aptos"/>
              </a:rPr>
              <a:t>Recommended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611880"/>
            <a:ext cx="9966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3303D"/>
                </a:solidFill>
                <a:latin typeface="Aptos"/>
              </a:defRPr>
            </a:pPr>
            <a:r>
              <a:t>• Investigate S12 before increasing Q3 promotional spend.</a:t>
            </a:r>
          </a:p>
          <a:p>
            <a:pPr>
              <a:spcAft>
                <a:spcPts val="400"/>
              </a:spcAft>
              <a:defRPr sz="1400">
                <a:solidFill>
                  <a:srgbClr val="23303D"/>
                </a:solidFill>
                <a:latin typeface="Aptos"/>
              </a:defRPr>
            </a:pPr>
            <a:r>
              <a:t>• Focus on demand, inventory availability, pricing and local competition.</a:t>
            </a:r>
          </a:p>
          <a:p>
            <a:pPr>
              <a:spcAft>
                <a:spcPts val="400"/>
              </a:spcAft>
              <a:defRPr sz="1400">
                <a:solidFill>
                  <a:srgbClr val="23303D"/>
                </a:solidFill>
                <a:latin typeface="Aptos"/>
              </a:defRPr>
            </a:pPr>
            <a:r>
              <a:t>• Investigate which stores and products are driving the Electronics decline.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257800"/>
            <a:ext cx="10881360" cy="685800"/>
          </a:xfrm>
          <a:prstGeom prst="roundRect">
            <a:avLst/>
          </a:prstGeom>
          <a:solidFill>
            <a:srgbClr val="F2F7FB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5257800"/>
            <a:ext cx="64008" cy="685800"/>
          </a:xfrm>
          <a:prstGeom prst="rect">
            <a:avLst/>
          </a:prstGeom>
          <a:solidFill>
            <a:srgbClr val="228255"/>
          </a:solidFill>
          <a:ln>
            <a:solidFill>
              <a:srgbClr val="22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7" y="5385816"/>
            <a:ext cx="10561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B4A"/>
                </a:solidFill>
                <a:latin typeface="Aptos"/>
              </a:rPr>
              <a:t>Recommendation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5696712"/>
            <a:ext cx="1056132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3303D"/>
                </a:solidFill>
                <a:latin typeface="Aptos"/>
              </a:rPr>
              <a:t>Prioritize S12 and the Electronics decline for investigation before committing additional promotional spend.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6565392"/>
            <a:ext cx="11045952" cy="10972"/>
          </a:xfrm>
          <a:prstGeom prst="rect">
            <a:avLst/>
          </a:prstGeom>
          <a:solidFill>
            <a:srgbClr val="EBEFF3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6601968"/>
            <a:ext cx="7772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977"/>
                </a:solidFill>
                <a:latin typeface="Aptos"/>
              </a:rPr>
              <a:t>Retail Sales Pulse  |  Phase 1 — Mini Use Case 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8368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B6977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B4A"/>
          </a:solidFill>
          <a:ln>
            <a:solidFill>
              <a:srgbClr val="0F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5C91"/>
                </a:solidFill>
                <a:latin typeface="Aptos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2B4A"/>
                </a:solidFill>
                <a:latin typeface="Aptos"/>
              </a:rPr>
              <a:t>Part 2 Pipeline — From API to Weekly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987552"/>
            <a:ext cx="10881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977"/>
                </a:solidFill>
                <a:latin typeface="Aptos"/>
              </a:rPr>
              <a:t>The engineering goal is repeatability, reliability and a business-ready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53312"/>
            <a:ext cx="11045952" cy="18288"/>
          </a:xfrm>
          <a:prstGeom prst="rect">
            <a:avLst/>
          </a:prstGeom>
          <a:solidFill>
            <a:srgbClr val="EBEFF3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85800" y="1828800"/>
            <a:ext cx="566928" cy="566928"/>
          </a:xfrm>
          <a:prstGeom prst="ellipse">
            <a:avLst/>
          </a:prstGeom>
          <a:solidFill>
            <a:srgbClr val="1F5C91"/>
          </a:solidFill>
          <a:ln>
            <a:solidFill>
              <a:srgbClr val="1F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947672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42032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F2B4A"/>
                </a:solidFill>
                <a:latin typeface="Aptos"/>
              </a:rPr>
              <a:t>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" y="2907792"/>
            <a:ext cx="1828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B6977"/>
                </a:solidFill>
                <a:latin typeface="Aptos"/>
              </a:rPr>
              <a:t>Receive weekly 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93852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AFB9C3"/>
                </a:solidFill>
                <a:latin typeface="Aptos"/>
              </a:rP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2926080" y="1828800"/>
            <a:ext cx="566928" cy="566928"/>
          </a:xfrm>
          <a:prstGeom prst="ellipse">
            <a:avLst/>
          </a:prstGeom>
          <a:solidFill>
            <a:srgbClr val="1F5C91"/>
          </a:solidFill>
          <a:ln>
            <a:solidFill>
              <a:srgbClr val="1F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26080" y="1947672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542032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F2B4A"/>
                </a:solidFill>
                <a:latin typeface="Aptos"/>
              </a:rPr>
              <a:t>PARSE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2907792"/>
            <a:ext cx="1828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B6977"/>
                </a:solidFill>
                <a:latin typeface="Aptos"/>
              </a:rPr>
              <a:t>Extract transaction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93852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AFB9C3"/>
                </a:solidFill>
                <a:latin typeface="Aptos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5166360" y="1828800"/>
            <a:ext cx="566928" cy="566928"/>
          </a:xfrm>
          <a:prstGeom prst="ellipse">
            <a:avLst/>
          </a:prstGeom>
          <a:solidFill>
            <a:srgbClr val="1F5C91"/>
          </a:solidFill>
          <a:ln>
            <a:solidFill>
              <a:srgbClr val="1F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66360" y="1947672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542032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F2B4A"/>
                </a:solidFill>
                <a:latin typeface="Aptos"/>
              </a:rPr>
              <a:t>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7448" y="2907792"/>
            <a:ext cx="1828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B6977"/>
                </a:solidFill>
                <a:latin typeface="Aptos"/>
              </a:rPr>
              <a:t>Stop on data-quality issues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93852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AFB9C3"/>
                </a:solidFill>
                <a:latin typeface="Aptos"/>
              </a:rPr>
              <a:t>→</a:t>
            </a:r>
          </a:p>
        </p:txBody>
      </p:sp>
      <p:sp>
        <p:nvSpPr>
          <p:cNvPr id="22" name="Oval 21"/>
          <p:cNvSpPr/>
          <p:nvPr/>
        </p:nvSpPr>
        <p:spPr>
          <a:xfrm>
            <a:off x="7406640" y="1828800"/>
            <a:ext cx="566928" cy="566928"/>
          </a:xfrm>
          <a:prstGeom prst="ellipse">
            <a:avLst/>
          </a:prstGeom>
          <a:solidFill>
            <a:srgbClr val="1F5C91"/>
          </a:solidFill>
          <a:ln>
            <a:solidFill>
              <a:srgbClr val="1F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06640" y="1947672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542032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F2B4A"/>
                </a:solidFill>
                <a:latin typeface="Aptos"/>
              </a:rPr>
              <a:t>TRANSFORM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907792"/>
            <a:ext cx="1828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B6977"/>
                </a:solidFill>
                <a:latin typeface="Aptos"/>
              </a:rPr>
              <a:t>Aggregate + compare baseline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193852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AFB9C3"/>
                </a:solidFill>
                <a:latin typeface="Aptos"/>
              </a:rPr>
              <a:t>→</a:t>
            </a:r>
          </a:p>
        </p:txBody>
      </p:sp>
      <p:sp>
        <p:nvSpPr>
          <p:cNvPr id="27" name="Oval 26"/>
          <p:cNvSpPr/>
          <p:nvPr/>
        </p:nvSpPr>
        <p:spPr>
          <a:xfrm>
            <a:off x="9646920" y="1828800"/>
            <a:ext cx="566928" cy="566928"/>
          </a:xfrm>
          <a:prstGeom prst="ellipse">
            <a:avLst/>
          </a:prstGeom>
          <a:solidFill>
            <a:srgbClr val="1F5C91"/>
          </a:solidFill>
          <a:ln>
            <a:solidFill>
              <a:srgbClr val="1F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46920" y="1947672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2542032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F2B4A"/>
                </a:solidFill>
                <a:latin typeface="Aptos"/>
              </a:rPr>
              <a:t>SUMMARIZE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08008" y="2907792"/>
            <a:ext cx="1828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B6977"/>
                </a:solidFill>
                <a:latin typeface="Aptos"/>
              </a:rPr>
              <a:t>Produce Monday report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4069080"/>
            <a:ext cx="5257800" cy="1188720"/>
          </a:xfrm>
          <a:prstGeom prst="roundRect">
            <a:avLst/>
          </a:prstGeom>
          <a:solidFill>
            <a:srgbClr val="F2F7FB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13232" y="4069080"/>
            <a:ext cx="64008" cy="1188720"/>
          </a:xfrm>
          <a:prstGeom prst="rect">
            <a:avLst/>
          </a:prstGeom>
          <a:solidFill>
            <a:srgbClr val="228255"/>
          </a:solidFill>
          <a:ln>
            <a:solidFill>
              <a:srgbClr val="22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4215384"/>
            <a:ext cx="4937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B4A"/>
                </a:solidFill>
                <a:latin typeface="Aptos"/>
              </a:rPr>
              <a:t>Clean path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544568"/>
            <a:ext cx="49377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3303D"/>
                </a:solidFill>
                <a:latin typeface="Aptos"/>
              </a:rPr>
              <a:t>Clean API → validated records → weekly metrics → business summary.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9632" y="4069080"/>
            <a:ext cx="5257800" cy="1188720"/>
          </a:xfrm>
          <a:prstGeom prst="roundRect">
            <a:avLst/>
          </a:prstGeom>
          <a:solidFill>
            <a:srgbClr val="F2F7FB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199632" y="4069080"/>
            <a:ext cx="64008" cy="1188720"/>
          </a:xfrm>
          <a:prstGeom prst="rect">
            <a:avLst/>
          </a:prstGeom>
          <a:solidFill>
            <a:srgbClr val="BE3939"/>
          </a:solidFill>
          <a:ln>
            <a:solidFill>
              <a:srgbClr val="BE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0" y="4215384"/>
            <a:ext cx="4937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B4A"/>
                </a:solidFill>
                <a:latin typeface="Aptos"/>
              </a:rPr>
              <a:t>Failure path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544568"/>
            <a:ext cx="49377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3303D"/>
                </a:solidFill>
                <a:latin typeface="Aptos"/>
              </a:rPr>
              <a:t>Corrupt API → validation failure → pipeline halted → investigate and correct data.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F2B4A"/>
                </a:solidFill>
                <a:latin typeface="Aptos"/>
              </a:rPr>
              <a:t>This connects Part 1 and Part 2: the historical analysis becomes the baseline for the weekly alert.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6565392"/>
            <a:ext cx="11045952" cy="10972"/>
          </a:xfrm>
          <a:prstGeom prst="rect">
            <a:avLst/>
          </a:prstGeom>
          <a:solidFill>
            <a:srgbClr val="EBEFF3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66928" y="6601968"/>
            <a:ext cx="7772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977"/>
                </a:solidFill>
                <a:latin typeface="Aptos"/>
              </a:rPr>
              <a:t>Retail Sales Pulse  |  Phase 1 — Mini Use Case 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01400" y="658368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B6977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B4A"/>
          </a:solidFill>
          <a:ln>
            <a:solidFill>
              <a:srgbClr val="0F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5C91"/>
                </a:solidFill>
                <a:latin typeface="Aptos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2B4A"/>
                </a:solidFill>
                <a:latin typeface="Aptos"/>
              </a:rPr>
              <a:t>5.7 — Understand the JSON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987552"/>
            <a:ext cx="10881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977"/>
                </a:solidFill>
                <a:latin typeface="Aptos"/>
              </a:rPr>
              <a:t>Know the payload before extracting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53312"/>
            <a:ext cx="11045952" cy="18288"/>
          </a:xfrm>
          <a:prstGeom prst="rect">
            <a:avLst/>
          </a:prstGeom>
          <a:solidFill>
            <a:srgbClr val="EBEFF3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792" y="1664208"/>
            <a:ext cx="5257800" cy="3520440"/>
          </a:xfrm>
          <a:prstGeom prst="roundRect">
            <a:avLst/>
          </a:prstGeom>
          <a:solidFill>
            <a:srgbClr val="F2F7FB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A"/>
                </a:solidFill>
                <a:latin typeface="Aptos"/>
              </a:rPr>
              <a:t>Top-level JSON object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395728"/>
            <a:ext cx="20116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523744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F5C91"/>
                </a:solidFill>
                <a:latin typeface="Aptos"/>
              </a:rPr>
              <a:t>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145536"/>
            <a:ext cx="20116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27355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F5C91"/>
                </a:solidFill>
                <a:latin typeface="Aptos"/>
              </a:rPr>
              <a:t>request_id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895344"/>
            <a:ext cx="20116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59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F5C91"/>
                </a:solidFill>
                <a:latin typeface="Aptos"/>
              </a:rPr>
              <a:t>generated_at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2395728"/>
            <a:ext cx="20116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0" y="2523744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F5C91"/>
                </a:solidFill>
                <a:latin typeface="Aptos"/>
              </a:rPr>
              <a:t>period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3145536"/>
            <a:ext cx="20116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0" y="327355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F5C91"/>
                </a:solidFill>
                <a:latin typeface="Aptos"/>
              </a:rPr>
              <a:t>record_count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3895344"/>
            <a:ext cx="20116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0" y="4023359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F5C91"/>
                </a:solidFill>
                <a:latin typeface="Aptos"/>
              </a:rPr>
              <a:t>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64208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1901952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B4A"/>
                </a:solidFill>
                <a:latin typeface="Aptos"/>
              </a:rPr>
              <a:t>Where is the transaction data?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28600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303D"/>
                </a:solidFill>
                <a:latin typeface="Aptos"/>
              </a:rPr>
              <a:t>Inside the data key → a list of transaction records.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063240"/>
            <a:ext cx="5257800" cy="2121408"/>
          </a:xfrm>
          <a:prstGeom prst="roundRect">
            <a:avLst/>
          </a:prstGeom>
          <a:solidFill>
            <a:srgbClr val="FFFFFF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3310128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B4A"/>
                </a:solidFill>
                <a:latin typeface="Aptos"/>
              </a:rPr>
              <a:t>Why this structure works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75887"/>
            <a:ext cx="4572000" cy="123444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150">
                <a:solidFill>
                  <a:srgbClr val="23303D"/>
                </a:solidFill>
                <a:latin typeface="Aptos"/>
              </a:defRPr>
            </a:pPr>
            <a:r>
              <a:t>• Metadata describes the response and reporting period.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150">
                <a:solidFill>
                  <a:srgbClr val="23303D"/>
                </a:solidFill>
                <a:latin typeface="Aptos"/>
              </a:defRPr>
            </a:pPr>
            <a:r>
              <a:t>• record_count provides a completeness check.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150">
                <a:solidFill>
                  <a:srgbClr val="23303D"/>
                </a:solidFill>
                <a:latin typeface="Aptos"/>
              </a:defRPr>
            </a:pPr>
            <a:r>
              <a:t>• data carries the actual weekly transactions.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150">
                <a:solidFill>
                  <a:srgbClr val="23303D"/>
                </a:solidFill>
                <a:latin typeface="Aptos"/>
              </a:defRPr>
            </a:pPr>
            <a:r>
              <a:t>• A downstream system can validate metadata, extract records and continue processing.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" y="5440680"/>
            <a:ext cx="10808208" cy="658368"/>
          </a:xfrm>
          <a:prstGeom prst="roundRect">
            <a:avLst/>
          </a:prstGeom>
          <a:solidFill>
            <a:srgbClr val="F2F7FB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" y="5440680"/>
            <a:ext cx="64008" cy="658368"/>
          </a:xfrm>
          <a:prstGeom prst="rect">
            <a:avLst/>
          </a:prstGeom>
          <a:solidFill>
            <a:srgbClr val="1F5C91"/>
          </a:solidFill>
          <a:ln>
            <a:solidFill>
              <a:srgbClr val="1F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5586984"/>
            <a:ext cx="104881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B4A"/>
                </a:solidFill>
                <a:latin typeface="Aptos"/>
              </a:rPr>
              <a:t>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916168"/>
            <a:ext cx="10488168" cy="73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3303D"/>
                </a:solidFill>
                <a:latin typeface="Aptos"/>
              </a:rPr>
              <a:t>The payload is structured like a real retail API response: metadata + transaction data.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6565392"/>
            <a:ext cx="11045952" cy="10972"/>
          </a:xfrm>
          <a:prstGeom prst="rect">
            <a:avLst/>
          </a:prstGeom>
          <a:solidFill>
            <a:srgbClr val="EBEFF3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6928" y="6601968"/>
            <a:ext cx="7772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977"/>
                </a:solidFill>
                <a:latin typeface="Aptos"/>
              </a:rPr>
              <a:t>Retail Sales Pulse  |  Phase 1 — Mini Use Case 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58368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B6977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B4A"/>
          </a:solidFill>
          <a:ln>
            <a:solidFill>
              <a:srgbClr val="0F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5C91"/>
                </a:solidFill>
                <a:latin typeface="Aptos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2B4A"/>
                </a:solidFill>
                <a:latin typeface="Aptos"/>
              </a:rPr>
              <a:t>5.8 — Ingest &amp; Parse the API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987552"/>
            <a:ext cx="10881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977"/>
                </a:solidFill>
                <a:latin typeface="Aptos"/>
              </a:rPr>
              <a:t>Convert the weekly JSON payload into an analysis-ready DataFrame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53312"/>
            <a:ext cx="11045952" cy="18288"/>
          </a:xfrm>
          <a:prstGeom prst="rect">
            <a:avLst/>
          </a:prstGeom>
          <a:solidFill>
            <a:srgbClr val="EBEFF3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792" y="1664208"/>
            <a:ext cx="2743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1664208"/>
            <a:ext cx="64008" cy="1143000"/>
          </a:xfrm>
          <a:prstGeom prst="rect">
            <a:avLst/>
          </a:prstGeom>
          <a:solidFill>
            <a:srgbClr val="1F5C91"/>
          </a:solidFill>
          <a:ln>
            <a:solidFill>
              <a:srgbClr val="1F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828800"/>
            <a:ext cx="2423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F2B4A"/>
                </a:solidFill>
                <a:latin typeface="Aptos"/>
              </a:rPr>
              <a:t>4,291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286000"/>
            <a:ext cx="242316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977"/>
                </a:solidFill>
                <a:latin typeface="Aptos"/>
              </a:rPr>
              <a:t>Records in JSON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84448" y="1664208"/>
            <a:ext cx="2743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84448" y="1664208"/>
            <a:ext cx="64008" cy="1143000"/>
          </a:xfrm>
          <a:prstGeom prst="rect">
            <a:avLst/>
          </a:prstGeom>
          <a:solidFill>
            <a:srgbClr val="228255"/>
          </a:solidFill>
          <a:ln>
            <a:solidFill>
              <a:srgbClr val="22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67328" y="1828800"/>
            <a:ext cx="2423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F2B4A"/>
                </a:solidFill>
                <a:latin typeface="Aptos"/>
              </a:rPr>
              <a:t>4,291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2286000"/>
            <a:ext cx="242316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977"/>
                </a:solidFill>
                <a:latin typeface="Aptos"/>
              </a:rPr>
              <a:t>Records in DataFrame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47104" y="1664208"/>
            <a:ext cx="2560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47104" y="1664208"/>
            <a:ext cx="64008" cy="1143000"/>
          </a:xfrm>
          <a:prstGeom prst="rect">
            <a:avLst/>
          </a:prstGeom>
          <a:solidFill>
            <a:srgbClr val="228255"/>
          </a:solidFill>
          <a:ln>
            <a:solidFill>
              <a:srgbClr val="22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29984" y="1828800"/>
            <a:ext cx="22402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F2B4A"/>
                </a:solidFill>
                <a:latin typeface="Aptos"/>
              </a:rPr>
              <a:t>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9984" y="2286000"/>
            <a:ext cx="2240279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977"/>
                </a:solidFill>
                <a:latin typeface="Aptos"/>
              </a:rPr>
              <a:t>Record-count check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1664208"/>
            <a:ext cx="2194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326880" y="1664208"/>
            <a:ext cx="64008" cy="1143000"/>
          </a:xfrm>
          <a:prstGeom prst="rect">
            <a:avLst/>
          </a:prstGeom>
          <a:solidFill>
            <a:srgbClr val="1F5C91"/>
          </a:solidFill>
          <a:ln>
            <a:solidFill>
              <a:srgbClr val="1F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09759" y="1828800"/>
            <a:ext cx="187451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A"/>
                </a:solidFill>
                <a:latin typeface="Aptos"/>
              </a:rPr>
              <a:t>7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59" y="2286000"/>
            <a:ext cx="1874519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977"/>
                </a:solidFill>
                <a:latin typeface="Aptos"/>
              </a:rPr>
              <a:t>Jun 24–30,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2004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B4A"/>
                </a:solidFill>
                <a:latin typeface="Aptos"/>
              </a:rPr>
              <a:t>What I did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566160"/>
            <a:ext cx="5166360" cy="187451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300">
                <a:solidFill>
                  <a:srgbClr val="23303D"/>
                </a:solidFill>
                <a:latin typeface="Aptos"/>
              </a:defRPr>
            </a:pPr>
            <a:r>
              <a:t>• Extracted transaction records from the data key.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300">
                <a:solidFill>
                  <a:srgbClr val="23303D"/>
                </a:solidFill>
                <a:latin typeface="Aptos"/>
              </a:defRPr>
            </a:pPr>
            <a:r>
              <a:t>• Loaded them into a Pandas DataFrame.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300">
                <a:solidFill>
                  <a:srgbClr val="23303D"/>
                </a:solidFill>
                <a:latin typeface="Aptos"/>
              </a:defRPr>
            </a:pPr>
            <a:r>
              <a:t>• Converted the date field to datetime.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300">
                <a:solidFill>
                  <a:srgbClr val="23303D"/>
                </a:solidFill>
                <a:latin typeface="Aptos"/>
              </a:defRPr>
            </a:pPr>
            <a:r>
              <a:t>• Confirmed actual records equal the API metadata record_count.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300">
                <a:solidFill>
                  <a:srgbClr val="23303D"/>
                </a:solidFill>
                <a:latin typeface="Aptos"/>
              </a:defRPr>
            </a:pPr>
            <a:r>
              <a:t>• Confirmed the reporting period from the metadata.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320040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B4A"/>
                </a:solidFill>
                <a:latin typeface="Aptos"/>
              </a:rPr>
              <a:t>Why the count check matters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3566160"/>
            <a:ext cx="5074920" cy="1188720"/>
          </a:xfrm>
          <a:prstGeom prst="roundRect">
            <a:avLst/>
          </a:prstGeom>
          <a:solidFill>
            <a:srgbClr val="F2F7FB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44768" y="3566160"/>
            <a:ext cx="64008" cy="1188720"/>
          </a:xfrm>
          <a:prstGeom prst="rect">
            <a:avLst/>
          </a:prstGeom>
          <a:solidFill>
            <a:srgbClr val="BE3939"/>
          </a:solidFill>
          <a:ln>
            <a:solidFill>
              <a:srgbClr val="BE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45936" y="3712463"/>
            <a:ext cx="4754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B4A"/>
                </a:solidFill>
                <a:latin typeface="Aptos"/>
              </a:rPr>
              <a:t>Completeness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5936" y="4041648"/>
            <a:ext cx="47548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3303D"/>
                </a:solidFill>
                <a:latin typeface="Aptos"/>
              </a:rPr>
              <a:t>If the API says 4,291 records but fewer arrive, the downstream report could be incomplete. The pipeline should detect this before processing.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4768" y="4956048"/>
            <a:ext cx="5074920" cy="841248"/>
          </a:xfrm>
          <a:prstGeom prst="roundRect">
            <a:avLst/>
          </a:prstGeom>
          <a:solidFill>
            <a:srgbClr val="F2F7FB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44768" y="4956048"/>
            <a:ext cx="64008" cy="841248"/>
          </a:xfrm>
          <a:prstGeom prst="rect">
            <a:avLst/>
          </a:prstGeom>
          <a:solidFill>
            <a:srgbClr val="228255"/>
          </a:solidFill>
          <a:ln>
            <a:solidFill>
              <a:srgbClr val="22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45936" y="5102352"/>
            <a:ext cx="4754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B4A"/>
                </a:solidFill>
                <a:latin typeface="Aptos"/>
              </a:rPr>
              <a:t>Outcome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5936" y="5431536"/>
            <a:ext cx="4754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3303D"/>
                </a:solidFill>
                <a:latin typeface="Aptos"/>
              </a:rPr>
              <a:t>Weekly data is ready for validation and aggregation.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6565392"/>
            <a:ext cx="11045952" cy="10972"/>
          </a:xfrm>
          <a:prstGeom prst="rect">
            <a:avLst/>
          </a:prstGeom>
          <a:solidFill>
            <a:srgbClr val="EBEFF3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6928" y="6601968"/>
            <a:ext cx="7772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977"/>
                </a:solidFill>
                <a:latin typeface="Aptos"/>
              </a:rPr>
              <a:t>Retail Sales Pulse  |  Phase 1 — Mini Use Case 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58368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B6977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B4A"/>
          </a:solidFill>
          <a:ln>
            <a:solidFill>
              <a:srgbClr val="0F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66928" y="2560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1"/>
                </a:solidFill>
                <a:latin typeface="Aptos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2B4A"/>
                </a:solidFill>
                <a:latin typeface="Aptos"/>
              </a:rPr>
              <a:t>5.9 — Validate the Data Before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8755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B6977"/>
                </a:solidFill>
                <a:latin typeface="Aptos"/>
              </a:rPr>
              <a:t>How the validation function checks the corrupt API payload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53312"/>
            <a:ext cx="11045952" cy="18288"/>
          </a:xfrm>
          <a:prstGeom prst="rect">
            <a:avLst/>
          </a:prstGeom>
          <a:solidFill>
            <a:srgbClr val="EBEFF3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5C91"/>
                </a:solidFill>
                <a:latin typeface="Aptos"/>
              </a:rPr>
              <a:t>HOW I DID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3246120" cy="1024128"/>
          </a:xfrm>
          <a:prstGeom prst="roundRect">
            <a:avLst/>
          </a:prstGeom>
          <a:solidFill>
            <a:srgbClr val="F2F7FB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64008" cy="1024128"/>
          </a:xfrm>
          <a:prstGeom prst="rect">
            <a:avLst/>
          </a:prstGeom>
          <a:solidFill>
            <a:srgbClr val="1F5C91"/>
          </a:solidFill>
          <a:ln>
            <a:solidFill>
              <a:srgbClr val="1F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2093976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B4A"/>
                </a:solidFill>
                <a:latin typeface="Aptos"/>
              </a:rPr>
              <a:t>Step 1 — 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404872"/>
            <a:ext cx="2926079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303D"/>
                </a:solidFill>
                <a:latin typeface="Aptos"/>
              </a:rPr>
              <a:t>Loaded the corrupt JSON response and converted its transaction data into a DataFrame.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154680"/>
            <a:ext cx="3246120" cy="1024128"/>
          </a:xfrm>
          <a:prstGeom prst="roundRect">
            <a:avLst/>
          </a:prstGeom>
          <a:solidFill>
            <a:srgbClr val="F2F7FB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" y="3154680"/>
            <a:ext cx="64008" cy="1024128"/>
          </a:xfrm>
          <a:prstGeom prst="rect">
            <a:avLst/>
          </a:prstGeom>
          <a:solidFill>
            <a:srgbClr val="1F5C91"/>
          </a:solidFill>
          <a:ln>
            <a:solidFill>
              <a:srgbClr val="1F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3282696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B4A"/>
                </a:solidFill>
                <a:latin typeface="Aptos"/>
              </a:rPr>
              <a:t>Step 2 — Check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593592"/>
            <a:ext cx="2926079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303D"/>
                </a:solidFill>
                <a:latin typeface="Aptos"/>
              </a:rPr>
              <a:t>Checked null values, revenue ≤ 0, and store IDs outside the valid S01–S12 list.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343400"/>
            <a:ext cx="3246120" cy="1024128"/>
          </a:xfrm>
          <a:prstGeom prst="roundRect">
            <a:avLst/>
          </a:prstGeom>
          <a:solidFill>
            <a:srgbClr val="F2F7FB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8368" y="4343400"/>
            <a:ext cx="64008" cy="1024128"/>
          </a:xfrm>
          <a:prstGeom prst="rect">
            <a:avLst/>
          </a:prstGeom>
          <a:solidFill>
            <a:srgbClr val="BE3939"/>
          </a:solidFill>
          <a:ln>
            <a:solidFill>
              <a:srgbClr val="BE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" y="4471416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B4A"/>
                </a:solidFill>
                <a:latin typeface="Aptos"/>
              </a:rPr>
              <a:t>Step 3 — Stop on failure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782312"/>
            <a:ext cx="2926079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303D"/>
                </a:solidFill>
                <a:latin typeface="Aptos"/>
              </a:rPr>
              <a:t>Collected all issues and returned a failed status rather than processing corrupt data.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24528" y="1627632"/>
            <a:ext cx="7205472" cy="4480560"/>
          </a:xfrm>
          <a:prstGeom prst="roundRect">
            <a:avLst/>
          </a:prstGeom>
          <a:solidFill>
            <a:srgbClr val="0F2B4A"/>
          </a:solidFill>
          <a:ln>
            <a:solidFill>
              <a:srgbClr val="0F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53712" y="1920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0EEF9"/>
                </a:solidFill>
                <a:latin typeface="Aptos"/>
              </a:rPr>
              <a:t>Validation Summary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22860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EF9"/>
                </a:solidFill>
                <a:latin typeface="Aptos"/>
              </a:rPr>
              <a:t>----------------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26517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ptos"/>
              </a:rPr>
              <a:t>Total records checked: 4291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309067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Aptos"/>
              </a:rPr>
              <a:t>Null values found: 1 (row 12, column: units_sold)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3529584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Aptos"/>
              </a:rPr>
              <a:t>Negative revenue found: 1 (row 5, revenue: -150.0)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3968496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Aptos"/>
              </a:rPr>
              <a:t>Invalid store IDs found: 1 (row 20, store_id: S99)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4645152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E3939"/>
                </a:solidFill>
                <a:latin typeface="Aptos"/>
              </a:rPr>
              <a:t>Status: FAILED — 3 issues detected. Pipeline halted.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5358384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0EEF9"/>
                </a:solidFill>
                <a:latin typeface="Aptos"/>
              </a:rPr>
              <a:t>This makes the pipeline fail-fast and prevents unreliable downstream results.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6565392"/>
            <a:ext cx="11045952" cy="10972"/>
          </a:xfrm>
          <a:prstGeom prst="rect">
            <a:avLst/>
          </a:prstGeom>
          <a:solidFill>
            <a:srgbClr val="EBEFF3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6601968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B6977"/>
                </a:solidFill>
                <a:latin typeface="Aptos"/>
              </a:rPr>
              <a:t>Retail Sales Pulse  |  Phase 1 — Mini Use Case 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583680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B6977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B4A"/>
          </a:solidFill>
          <a:ln>
            <a:solidFill>
              <a:srgbClr val="0F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5C91"/>
                </a:solidFill>
                <a:latin typeface="Aptos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2B4A"/>
                </a:solidFill>
                <a:latin typeface="Aptos"/>
              </a:rPr>
              <a:t>5.10 — Transform &amp; Aggregate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987552"/>
            <a:ext cx="10881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977"/>
                </a:solidFill>
                <a:latin typeface="Aptos"/>
              </a:rPr>
              <a:t>Turn clean weekly records into decision-ready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53312"/>
            <a:ext cx="11045952" cy="18288"/>
          </a:xfrm>
          <a:prstGeom prst="rect">
            <a:avLst/>
          </a:prstGeom>
          <a:solidFill>
            <a:srgbClr val="EBEFF3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792" y="1664208"/>
            <a:ext cx="27432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1664208"/>
            <a:ext cx="64008" cy="1170432"/>
          </a:xfrm>
          <a:prstGeom prst="rect">
            <a:avLst/>
          </a:prstGeom>
          <a:solidFill>
            <a:srgbClr val="228255"/>
          </a:solidFill>
          <a:ln>
            <a:solidFill>
              <a:srgbClr val="22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828800"/>
            <a:ext cx="2423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F2B4A"/>
                </a:solidFill>
                <a:latin typeface="Aptos"/>
              </a:rPr>
              <a:t>S03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286000"/>
            <a:ext cx="24231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977"/>
                </a:solidFill>
                <a:latin typeface="Aptos"/>
              </a:rPr>
              <a:t>Top store this week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84448" y="1664208"/>
            <a:ext cx="27432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84448" y="1664208"/>
            <a:ext cx="64008" cy="1170432"/>
          </a:xfrm>
          <a:prstGeom prst="rect">
            <a:avLst/>
          </a:prstGeom>
          <a:solidFill>
            <a:srgbClr val="228255"/>
          </a:solidFill>
          <a:ln>
            <a:solidFill>
              <a:srgbClr val="22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67328" y="1828800"/>
            <a:ext cx="2423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A"/>
                </a:solidFill>
                <a:latin typeface="Aptos"/>
              </a:rPr>
              <a:t>₹2.04M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2286000"/>
            <a:ext cx="24231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977"/>
                </a:solidFill>
                <a:latin typeface="Aptos"/>
              </a:rPr>
              <a:t>S03 weekly revenue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47104" y="1664208"/>
            <a:ext cx="25603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47104" y="1664208"/>
            <a:ext cx="64008" cy="1170432"/>
          </a:xfrm>
          <a:prstGeom prst="rect">
            <a:avLst/>
          </a:prstGeom>
          <a:solidFill>
            <a:srgbClr val="BE3939"/>
          </a:solidFill>
          <a:ln>
            <a:solidFill>
              <a:srgbClr val="BE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29984" y="1828800"/>
            <a:ext cx="22402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B4A"/>
                </a:solidFill>
                <a:latin typeface="Aptos"/>
              </a:rPr>
              <a:t>Electronics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9984" y="2286000"/>
            <a:ext cx="2240279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977"/>
                </a:solidFill>
                <a:latin typeface="Aptos"/>
              </a:rPr>
              <a:t>Category alert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1664208"/>
            <a:ext cx="21945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326880" y="1664208"/>
            <a:ext cx="64008" cy="1170432"/>
          </a:xfrm>
          <a:prstGeom prst="rect">
            <a:avLst/>
          </a:prstGeom>
          <a:solidFill>
            <a:srgbClr val="BE3939"/>
          </a:solidFill>
          <a:ln>
            <a:solidFill>
              <a:srgbClr val="BE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09759" y="1828800"/>
            <a:ext cx="187451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F2B4A"/>
                </a:solidFill>
                <a:latin typeface="Aptos"/>
              </a:rPr>
              <a:t>−34.2%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59" y="2286000"/>
            <a:ext cx="1874519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977"/>
                </a:solidFill>
                <a:latin typeface="Aptos"/>
              </a:rPr>
              <a:t>Vs 6-month baseline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218688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B4A"/>
                </a:solidFill>
                <a:latin typeface="Aptos"/>
              </a:rPr>
              <a:t>Required outputs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566160"/>
            <a:ext cx="5257800" cy="169164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300">
                <a:solidFill>
                  <a:srgbClr val="23303D"/>
                </a:solidFill>
                <a:latin typeface="Aptos"/>
              </a:defRPr>
            </a:pPr>
            <a:r>
              <a:t>• Total revenue per store for the 7-day period.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300">
                <a:solidFill>
                  <a:srgbClr val="23303D"/>
                </a:solidFill>
                <a:latin typeface="Aptos"/>
              </a:defRPr>
            </a:pPr>
            <a:r>
              <a:t>• Total revenue per category for the 7-day period.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300">
                <a:solidFill>
                  <a:srgbClr val="23303D"/>
                </a:solidFill>
                <a:latin typeface="Aptos"/>
              </a:defRPr>
            </a:pPr>
            <a:r>
              <a:t>• Single highest-revenue store.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300">
                <a:solidFill>
                  <a:srgbClr val="23303D"/>
                </a:solidFill>
                <a:latin typeface="Aptos"/>
              </a:defRPr>
            </a:pPr>
            <a:r>
              <a:t>• Category alert where weekly revenue is &gt;20% below the 6-month daily baseline.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3218688"/>
            <a:ext cx="5212080" cy="1993392"/>
          </a:xfrm>
          <a:prstGeom prst="roundRect">
            <a:avLst/>
          </a:prstGeom>
          <a:solidFill>
            <a:srgbClr val="FFFFFF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347472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B4A"/>
                </a:solidFill>
                <a:latin typeface="Aptos"/>
              </a:rPr>
              <a:t>Weekly category 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858768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3303D"/>
                </a:solidFill>
                <a:latin typeface="Aptos"/>
              </a:rPr>
              <a:t>Electronics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858768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23303D"/>
                </a:solidFill>
                <a:latin typeface="Aptos"/>
              </a:rPr>
              <a:t>₹5.76M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3858768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BE3939"/>
                </a:solidFill>
                <a:latin typeface="Aptos"/>
              </a:rPr>
              <a:t>−34.2%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11480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3303D"/>
                </a:solidFill>
                <a:latin typeface="Aptos"/>
              </a:rPr>
              <a:t>Apparel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114800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23303D"/>
                </a:solidFill>
                <a:latin typeface="Aptos"/>
              </a:rPr>
              <a:t>₹3.23M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6920" y="4114800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228255"/>
                </a:solidFill>
                <a:latin typeface="Aptos"/>
              </a:rPr>
              <a:t>No alert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370831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3303D"/>
                </a:solidFill>
                <a:latin typeface="Aptos"/>
              </a:rPr>
              <a:t>Home &amp; Kitchen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370831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23303D"/>
                </a:solidFill>
                <a:latin typeface="Aptos"/>
              </a:rPr>
              <a:t>₹2.85M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4370831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228255"/>
                </a:solidFill>
                <a:latin typeface="Aptos"/>
              </a:rPr>
              <a:t>No alert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4626864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3303D"/>
                </a:solidFill>
                <a:latin typeface="Aptos"/>
              </a:rPr>
              <a:t>Grocery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626864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23303D"/>
                </a:solidFill>
                <a:latin typeface="Aptos"/>
              </a:rPr>
              <a:t>₹1.62M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20" y="4626864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228255"/>
                </a:solidFill>
                <a:latin typeface="Aptos"/>
              </a:rPr>
              <a:t>No alert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4882896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3303D"/>
                </a:solidFill>
                <a:latin typeface="Aptos"/>
              </a:rPr>
              <a:t>Personal Care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882896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23303D"/>
                </a:solidFill>
                <a:latin typeface="Aptos"/>
              </a:rPr>
              <a:t>₹1.56M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46920" y="4882896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228255"/>
                </a:solidFill>
                <a:latin typeface="Aptos"/>
              </a:rPr>
              <a:t>No alert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68756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1F5C91"/>
                </a:solidFill>
                <a:latin typeface="Aptos"/>
              </a:rPr>
              <a:t>The historical CSV is what makes the weekly alert meaningful: current performance is judged against a baseline.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6565392"/>
            <a:ext cx="11045952" cy="10972"/>
          </a:xfrm>
          <a:prstGeom prst="rect">
            <a:avLst/>
          </a:prstGeom>
          <a:solidFill>
            <a:srgbClr val="EBEFF3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66928" y="6601968"/>
            <a:ext cx="7772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977"/>
                </a:solidFill>
                <a:latin typeface="Aptos"/>
              </a:rPr>
              <a:t>Retail Sales Pulse  |  Phase 1 — Mini Use Case 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01400" y="658368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B6977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B4A"/>
          </a:solidFill>
          <a:ln>
            <a:solidFill>
              <a:srgbClr val="0F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66928" y="2560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5C91"/>
                </a:solidFill>
                <a:latin typeface="Aptos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2B4A"/>
                </a:solidFill>
                <a:latin typeface="Aptos"/>
              </a:rPr>
              <a:t>5.11 — Pipeline Summary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8755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B6977"/>
                </a:solidFill>
                <a:latin typeface="Aptos"/>
              </a:rPr>
              <a:t>How the clean weekly JSON becomes the final management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53312"/>
            <a:ext cx="11045952" cy="18288"/>
          </a:xfrm>
          <a:prstGeom prst="rect">
            <a:avLst/>
          </a:prstGeom>
          <a:solidFill>
            <a:srgbClr val="EBEFF3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5C91"/>
                </a:solidFill>
                <a:latin typeface="Aptos"/>
              </a:rPr>
              <a:t>HOW I DID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3246120" cy="1024128"/>
          </a:xfrm>
          <a:prstGeom prst="roundRect">
            <a:avLst/>
          </a:prstGeom>
          <a:solidFill>
            <a:srgbClr val="F2F7FB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64008" cy="1024128"/>
          </a:xfrm>
          <a:prstGeom prst="rect">
            <a:avLst/>
          </a:prstGeom>
          <a:solidFill>
            <a:srgbClr val="1F5C91"/>
          </a:solidFill>
          <a:ln>
            <a:solidFill>
              <a:srgbClr val="1F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2093976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B4A"/>
                </a:solidFill>
                <a:latin typeface="Aptos"/>
              </a:rPr>
              <a:t>Step 1 — Load &amp; parse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404872"/>
            <a:ext cx="2926079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303D"/>
                </a:solidFill>
                <a:latin typeface="Aptos"/>
              </a:rPr>
              <a:t>Loaded the clean JSON with json.load(), extracted data into a DataFrame and converted date to datetime.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154680"/>
            <a:ext cx="3246120" cy="1024128"/>
          </a:xfrm>
          <a:prstGeom prst="roundRect">
            <a:avLst/>
          </a:prstGeom>
          <a:solidFill>
            <a:srgbClr val="F2F7FB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" y="3154680"/>
            <a:ext cx="64008" cy="1024128"/>
          </a:xfrm>
          <a:prstGeom prst="rect">
            <a:avLst/>
          </a:prstGeom>
          <a:solidFill>
            <a:srgbClr val="1F5C91"/>
          </a:solidFill>
          <a:ln>
            <a:solidFill>
              <a:srgbClr val="1F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3282696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B4A"/>
                </a:solidFill>
                <a:latin typeface="Aptos"/>
              </a:rPr>
              <a:t>Step 2 — Aggregate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593592"/>
            <a:ext cx="2926079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303D"/>
                </a:solidFill>
                <a:latin typeface="Aptos"/>
              </a:rPr>
              <a:t>Grouped revenue by store and category, then identified the highest- and lowest-revenue stores.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343400"/>
            <a:ext cx="3246120" cy="1024128"/>
          </a:xfrm>
          <a:prstGeom prst="roundRect">
            <a:avLst/>
          </a:prstGeom>
          <a:solidFill>
            <a:srgbClr val="F2F7FB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8368" y="4343400"/>
            <a:ext cx="64008" cy="1024128"/>
          </a:xfrm>
          <a:prstGeom prst="rect">
            <a:avLst/>
          </a:prstGeom>
          <a:solidFill>
            <a:srgbClr val="228255"/>
          </a:solidFill>
          <a:ln>
            <a:solidFill>
              <a:srgbClr val="22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" y="4471416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B4A"/>
                </a:solidFill>
                <a:latin typeface="Aptos"/>
              </a:rPr>
              <a:t>Step 3 — Compare 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782312"/>
            <a:ext cx="2926079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303D"/>
                </a:solidFill>
                <a:latin typeface="Aptos"/>
              </a:rPr>
              <a:t>Used the 6-month CSV baseline to calculate the category alert and generated the report dynamically.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24528" y="1627632"/>
            <a:ext cx="7205472" cy="4480560"/>
          </a:xfrm>
          <a:prstGeom prst="roundRect">
            <a:avLst/>
          </a:prstGeom>
          <a:solidFill>
            <a:srgbClr val="0F2B4A"/>
          </a:solidFill>
          <a:ln>
            <a:solidFill>
              <a:srgbClr val="0F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53712" y="1938528"/>
            <a:ext cx="6355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E0EEF9"/>
                </a:solidFill>
                <a:latin typeface="Aptos"/>
              </a:rPr>
              <a:t>=== RETAIL SALES PULSE — WEEKLY SUMMARY ===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2468880"/>
            <a:ext cx="6355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70" b="0">
                <a:solidFill>
                  <a:srgbClr val="FFFFFF"/>
                </a:solidFill>
                <a:latin typeface="Aptos"/>
              </a:rPr>
              <a:t>Period: 2026-06-24 to 2026-06-30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2889504"/>
            <a:ext cx="6355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70" b="0">
                <a:solidFill>
                  <a:srgbClr val="FFFFFF"/>
                </a:solidFill>
                <a:latin typeface="Aptos"/>
              </a:rPr>
              <a:t>Records processed: 4291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3310128"/>
            <a:ext cx="6355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70" b="0">
                <a:solidFill>
                  <a:srgbClr val="FFFFFF"/>
                </a:solidFill>
                <a:latin typeface="Aptos"/>
              </a:rPr>
              <a:t>Top store this week: S03 — Guntur (₹2,037,560.19)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3730752"/>
            <a:ext cx="6355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70" b="0">
                <a:solidFill>
                  <a:srgbClr val="FFFFFF"/>
                </a:solidFill>
                <a:latin typeface="Aptos"/>
              </a:rPr>
              <a:t>Bottom store this week: S10 — Nellore (₹627,119.87)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4151376"/>
            <a:ext cx="6355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70" b="0">
                <a:solidFill>
                  <a:srgbClr val="FFFFFF"/>
                </a:solidFill>
                <a:latin typeface="Aptos"/>
              </a:rPr>
              <a:t>Category alert: Electronics revenue down 34.2% vs 6-month baseline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4572000"/>
            <a:ext cx="6355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70" b="0">
                <a:solidFill>
                  <a:srgbClr val="FFFFFF"/>
                </a:solidFill>
                <a:latin typeface="Aptos"/>
              </a:rPr>
              <a:t>No alert: Apparel, Grocery, Home &amp; Kitchen, Personal Care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4992624"/>
            <a:ext cx="6355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70" b="1">
                <a:solidFill>
                  <a:srgbClr val="228255"/>
                </a:solidFill>
                <a:latin typeface="Aptos"/>
              </a:rPr>
              <a:t>Pipeline status: COMPLETED SUCCESSFULLY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6565392"/>
            <a:ext cx="11045952" cy="10972"/>
          </a:xfrm>
          <a:prstGeom prst="rect">
            <a:avLst/>
          </a:prstGeom>
          <a:solidFill>
            <a:srgbClr val="EBEFF3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6601968"/>
            <a:ext cx="7772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B6977"/>
                </a:solidFill>
                <a:latin typeface="Aptos"/>
              </a:rPr>
              <a:t>Retail Sales Pulse  |  Phase 1 — Mini Use Case 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583680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B6977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B4A"/>
          </a:solidFill>
          <a:ln>
            <a:solidFill>
              <a:srgbClr val="0F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5C91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2B4A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98755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977"/>
                </a:solidFill>
                <a:latin typeface="Aptos"/>
              </a:rPr>
              <a:t>What the complete use case proves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53312"/>
            <a:ext cx="11045952" cy="18288"/>
          </a:xfrm>
          <a:prstGeom prst="rect">
            <a:avLst/>
          </a:prstGeom>
          <a:solidFill>
            <a:srgbClr val="EBEFF3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792" y="1664208"/>
            <a:ext cx="10927080" cy="1051560"/>
          </a:xfrm>
          <a:prstGeom prst="roundRect">
            <a:avLst/>
          </a:prstGeom>
          <a:solidFill>
            <a:srgbClr val="0F2B4A"/>
          </a:solidFill>
          <a:ln>
            <a:solidFill>
              <a:srgbClr val="0F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56816"/>
            <a:ext cx="10378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The analysis and pipeline work together as one decision 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10378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E0EEF9"/>
                </a:solidFill>
                <a:latin typeface="Aptos"/>
              </a:rPr>
              <a:t>Part 1 shows where performance needs attention. Part 2 makes that insight repeatable every week.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063240"/>
            <a:ext cx="3401568" cy="1417320"/>
          </a:xfrm>
          <a:prstGeom prst="roundRect">
            <a:avLst/>
          </a:prstGeom>
          <a:solidFill>
            <a:srgbClr val="F2F7FB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" y="3063240"/>
            <a:ext cx="64008" cy="1417320"/>
          </a:xfrm>
          <a:prstGeom prst="rect">
            <a:avLst/>
          </a:prstGeom>
          <a:solidFill>
            <a:srgbClr val="1F5C91"/>
          </a:solidFill>
          <a:ln>
            <a:solidFill>
              <a:srgbClr val="1F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191256"/>
            <a:ext cx="30815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B4A"/>
                </a:solidFill>
                <a:latin typeface="Aptos"/>
              </a:rPr>
              <a:t>1. Identify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02152"/>
            <a:ext cx="3081528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3303D"/>
                </a:solidFill>
                <a:latin typeface="Aptos"/>
              </a:rPr>
              <a:t>S12 is the lowest six-month store and Electronics shows the steepest category decline.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3063240"/>
            <a:ext cx="3401568" cy="1417320"/>
          </a:xfrm>
          <a:prstGeom prst="roundRect">
            <a:avLst/>
          </a:prstGeom>
          <a:solidFill>
            <a:srgbClr val="F2F7FB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15968" y="3063240"/>
            <a:ext cx="64008" cy="1417320"/>
          </a:xfrm>
          <a:prstGeom prst="rect">
            <a:avLst/>
          </a:prstGeom>
          <a:solidFill>
            <a:srgbClr val="BE3939"/>
          </a:solidFill>
          <a:ln>
            <a:solidFill>
              <a:srgbClr val="BE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17136" y="3191256"/>
            <a:ext cx="30815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B4A"/>
                </a:solidFill>
                <a:latin typeface="Aptos"/>
              </a:rPr>
              <a:t>2. Protect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3502152"/>
            <a:ext cx="3081528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3303D"/>
                </a:solidFill>
                <a:latin typeface="Aptos"/>
              </a:rPr>
              <a:t>The validation gate catches all 3 intentional API data-quality issues before processing.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3063240"/>
            <a:ext cx="3401568" cy="1417320"/>
          </a:xfrm>
          <a:prstGeom prst="roundRect">
            <a:avLst/>
          </a:prstGeom>
          <a:solidFill>
            <a:srgbClr val="F2F7FB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10144" y="3063240"/>
            <a:ext cx="64008" cy="1417320"/>
          </a:xfrm>
          <a:prstGeom prst="rect">
            <a:avLst/>
          </a:prstGeom>
          <a:solidFill>
            <a:srgbClr val="228255"/>
          </a:solidFill>
          <a:ln>
            <a:solidFill>
              <a:srgbClr val="22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11312" y="3191256"/>
            <a:ext cx="30815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B4A"/>
                </a:solidFill>
                <a:latin typeface="Aptos"/>
              </a:rPr>
              <a:t>3. Repeat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3502152"/>
            <a:ext cx="3081528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3303D"/>
                </a:solidFill>
                <a:latin typeface="Aptos"/>
              </a:rPr>
              <a:t>The clean weekly pipeline produces a structured sales pulse with an actionable alert.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892040"/>
            <a:ext cx="10927080" cy="960120"/>
          </a:xfrm>
          <a:prstGeom prst="roundRect">
            <a:avLst/>
          </a:prstGeom>
          <a:solidFill>
            <a:srgbClr val="F2F7FB"/>
          </a:solidFill>
          <a:ln>
            <a:solidFill>
              <a:srgbClr val="EB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102352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B4A"/>
                </a:solidFill>
                <a:latin typeface="Aptos"/>
              </a:rPr>
              <a:t>Final recommendation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047488"/>
            <a:ext cx="8366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303D"/>
                </a:solidFill>
                <a:latin typeface="Aptos"/>
              </a:rPr>
              <a:t>Investigate S12 and the Electronics decline first, then use the weekly pipeline to track whether performance improves.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A"/>
          </a:solidFill>
          <a:ln>
            <a:solidFill>
              <a:srgbClr val="0F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C91"/>
          </a:solidFill>
          <a:ln>
            <a:solidFill>
              <a:srgbClr val="1F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166360" y="2926080"/>
            <a:ext cx="1874519" cy="45720"/>
          </a:xfrm>
          <a:prstGeom prst="rect">
            <a:avLst/>
          </a:prstGeom>
          <a:solidFill>
            <a:srgbClr val="E0EEF9"/>
          </a:solidFill>
          <a:ln>
            <a:solidFill>
              <a:srgbClr val="E0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3337560"/>
            <a:ext cx="8549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E0EEF9"/>
                </a:solidFill>
                <a:latin typeface="Aptos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228T1A05D8</cp:lastModifiedBy>
  <cp:revision>2</cp:revision>
  <dcterms:created xsi:type="dcterms:W3CDTF">2013-01-27T09:14:16Z</dcterms:created>
  <dcterms:modified xsi:type="dcterms:W3CDTF">2026-09-06T18:36:27Z</dcterms:modified>
  <cp:category/>
</cp:coreProperties>
</file>